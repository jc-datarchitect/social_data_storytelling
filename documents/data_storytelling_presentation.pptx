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26" r:id="rId2"/>
    <p:sldId id="403" r:id="rId3"/>
    <p:sldId id="448" r:id="rId4"/>
    <p:sldId id="449" r:id="rId5"/>
    <p:sldId id="450" r:id="rId6"/>
    <p:sldId id="451" r:id="rId7"/>
    <p:sldId id="452" r:id="rId8"/>
    <p:sldId id="453" r:id="rId9"/>
    <p:sldId id="454" r:id="rId10"/>
    <p:sldId id="457" r:id="rId11"/>
    <p:sldId id="455" r:id="rId12"/>
    <p:sldId id="447" r:id="rId13"/>
    <p:sldId id="458" r:id="rId14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84CC"/>
    <a:srgbClr val="FF7C80"/>
    <a:srgbClr val="0B1A3A"/>
    <a:srgbClr val="FF0066"/>
    <a:srgbClr val="FCC0C0"/>
    <a:srgbClr val="0F47AF"/>
    <a:srgbClr val="81B2DF"/>
    <a:srgbClr val="A50021"/>
    <a:srgbClr val="F9D9C3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2" autoAdjust="0"/>
    <p:restoredTop sz="98399" autoAdjust="0"/>
  </p:normalViewPr>
  <p:slideViewPr>
    <p:cSldViewPr snapToGrid="0">
      <p:cViewPr varScale="1">
        <p:scale>
          <a:sx n="82" d="100"/>
          <a:sy n="82" d="100"/>
        </p:scale>
        <p:origin x="145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1C2D2-2E42-4CFA-8FC3-90B73ADDC275}" type="datetimeFigureOut">
              <a:rPr lang="es-CR" smtClean="0"/>
              <a:t>6/2/2026</a:t>
            </a:fld>
            <a:endParaRPr lang="es-C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718C9-0D55-42E5-B327-F5FB9DFCF7A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0515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158F-EBA8-4D07-9826-B121A95BA7C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4931-78F2-47C5-A140-0F21EBA8B7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8201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158F-EBA8-4D07-9826-B121A95BA7C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4931-78F2-47C5-A140-0F21EBA8B7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8577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158F-EBA8-4D07-9826-B121A95BA7C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4931-78F2-47C5-A140-0F21EBA8B7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2307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158F-EBA8-4D07-9826-B121A95BA7C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4931-78F2-47C5-A140-0F21EBA8B7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7657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158F-EBA8-4D07-9826-B121A95BA7C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4931-78F2-47C5-A140-0F21EBA8B7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113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158F-EBA8-4D07-9826-B121A95BA7C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4931-78F2-47C5-A140-0F21EBA8B7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5065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158F-EBA8-4D07-9826-B121A95BA7C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4931-78F2-47C5-A140-0F21EBA8B7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2003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158F-EBA8-4D07-9826-B121A95BA7C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4931-78F2-47C5-A140-0F21EBA8B7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379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158F-EBA8-4D07-9826-B121A95BA7C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4931-78F2-47C5-A140-0F21EBA8B7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2416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158F-EBA8-4D07-9826-B121A95BA7C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4931-78F2-47C5-A140-0F21EBA8B7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682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158F-EBA8-4D07-9826-B121A95BA7C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4931-78F2-47C5-A140-0F21EBA8B7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323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C158F-EBA8-4D07-9826-B121A95BA7C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04931-78F2-47C5-A140-0F21EBA8B7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465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stadisticasdecriminalidad.ses.mir.es/publico/portalestadistico/datos.html?type=jaxi&amp;title=Delitos%20de%20odio&amp;path=/Datos6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os.gob.es/es/catalogo/e05230301-poblacion-de-25-a-64-anos-en-la-ue-por-pais-sexo-nivel-de-formacion-grado-de-urbanizacion-y-ano" TargetMode="External"/><Relationship Id="rId4" Type="http://schemas.openxmlformats.org/officeDocument/2006/relationships/hyperlink" Target="https://webfs.oecd.org/pisa2022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agua, grande, oscuro, aire&#10;&#10;El contenido generado por IA puede ser incorrecto.">
            <a:extLst>
              <a:ext uri="{FF2B5EF4-FFF2-40B4-BE49-F238E27FC236}">
                <a16:creationId xmlns:a16="http://schemas.microsoft.com/office/drawing/2014/main" id="{BDD36AEE-CB28-0ECA-4064-96D4A5D0A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75"/>
            <a:ext cx="9144000" cy="672465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49705" y="4495171"/>
            <a:ext cx="82445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400" b="1" dirty="0">
                <a:solidFill>
                  <a:schemeClr val="bg1">
                    <a:alpha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¿PUEDE LA EDUCACIÓN FRENAR EL </a:t>
            </a:r>
            <a:r>
              <a:rPr lang="es-ES" sz="3400" b="1" dirty="0">
                <a:solidFill>
                  <a:srgbClr val="FF0066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ODIO</a:t>
            </a:r>
            <a:r>
              <a:rPr lang="es-ES" sz="3400" b="1" dirty="0">
                <a:solidFill>
                  <a:schemeClr val="bg1">
                    <a:alpha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s-ES" sz="3400" dirty="0">
              <a:solidFill>
                <a:schemeClr val="bg1">
                  <a:alpha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1DF8EC0-6D94-2F9D-4B38-7D00FF2EF4FF}"/>
              </a:ext>
            </a:extLst>
          </p:cNvPr>
          <p:cNvSpPr txBox="1"/>
          <p:nvPr/>
        </p:nvSpPr>
        <p:spPr>
          <a:xfrm>
            <a:off x="449705" y="5063697"/>
            <a:ext cx="8244590" cy="404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30" dirty="0">
                <a:solidFill>
                  <a:schemeClr val="bg1">
                    <a:alpha val="75000"/>
                  </a:schemeClr>
                </a:solidFill>
                <a:cs typeface="Times New Roman" panose="02020603050405020304" pitchFamily="18" charset="0"/>
              </a:rPr>
              <a:t>Delitos de </a:t>
            </a:r>
            <a:r>
              <a:rPr lang="es-ES" sz="2030" b="1" dirty="0">
                <a:solidFill>
                  <a:srgbClr val="FF0066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odio</a:t>
            </a:r>
            <a:r>
              <a:rPr lang="es-ES" sz="2030" dirty="0">
                <a:solidFill>
                  <a:schemeClr val="bg1">
                    <a:alpha val="75000"/>
                  </a:schemeClr>
                </a:solidFill>
                <a:cs typeface="Times New Roman" panose="02020603050405020304" pitchFamily="18" charset="0"/>
              </a:rPr>
              <a:t>, educación y tolerancia: una lectura a través de los datos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1812D5B-CF6B-7E40-624E-D9877DA8C181}"/>
              </a:ext>
            </a:extLst>
          </p:cNvPr>
          <p:cNvCxnSpPr/>
          <p:nvPr/>
        </p:nvCxnSpPr>
        <p:spPr>
          <a:xfrm>
            <a:off x="820710" y="5066817"/>
            <a:ext cx="7502579" cy="0"/>
          </a:xfrm>
          <a:prstGeom prst="line">
            <a:avLst/>
          </a:prstGeom>
          <a:ln w="317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13B3B81-CCFD-5E83-0D74-CF490C410DA4}"/>
              </a:ext>
            </a:extLst>
          </p:cNvPr>
          <p:cNvSpPr txBox="1"/>
          <p:nvPr/>
        </p:nvSpPr>
        <p:spPr>
          <a:xfrm>
            <a:off x="449704" y="5986916"/>
            <a:ext cx="8244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>
                    <a:alpha val="75000"/>
                  </a:schemeClr>
                </a:solidFill>
                <a:cs typeface="Times New Roman" panose="02020603050405020304" pitchFamily="18" charset="0"/>
              </a:rPr>
              <a:t>VISUALIZACIÓN DE DATOS</a:t>
            </a:r>
          </a:p>
          <a:p>
            <a:pPr algn="ctr"/>
            <a:r>
              <a:rPr lang="es-ES" sz="1600" dirty="0">
                <a:solidFill>
                  <a:schemeClr val="bg1">
                    <a:alpha val="75000"/>
                  </a:schemeClr>
                </a:solidFill>
                <a:cs typeface="Times New Roman" panose="02020603050405020304" pitchFamily="18" charset="0"/>
              </a:rPr>
              <a:t>Francisco Javier Cristóbal Fernández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980A222-2B91-AC4C-477B-249ECC315047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263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C4B6-BF84-8200-532F-5FECC093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83E9FB0C-2E01-942E-042F-2695DEAA3DB9}"/>
              </a:ext>
            </a:extLst>
          </p:cNvPr>
          <p:cNvSpPr/>
          <p:nvPr/>
        </p:nvSpPr>
        <p:spPr>
          <a:xfrm>
            <a:off x="966738" y="225333"/>
            <a:ext cx="7961333" cy="634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64BC7A2-4DDB-FC0E-5696-041ACE3E2A57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rgbClr val="0F4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E4A75B-1D06-6350-9E9F-0D5476EBF8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8991" r="19047" b="18878"/>
          <a:stretch/>
        </p:blipFill>
        <p:spPr>
          <a:xfrm>
            <a:off x="215929" y="227845"/>
            <a:ext cx="632390" cy="634681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37A2F11A-7E37-F69D-C7C4-803399BD88BA}"/>
              </a:ext>
            </a:extLst>
          </p:cNvPr>
          <p:cNvSpPr/>
          <p:nvPr/>
        </p:nvSpPr>
        <p:spPr>
          <a:xfrm>
            <a:off x="966738" y="299144"/>
            <a:ext cx="7963714" cy="4778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0"/>
                <a:solidFill>
                  <a:srgbClr val="0B37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EVOLUCIÓN RECIENTE DE UN FENÓMENO PERSISTENTE</a:t>
            </a:r>
          </a:p>
        </p:txBody>
      </p:sp>
      <p:sp>
        <p:nvSpPr>
          <p:cNvPr id="49" name="Rectángulo redondeado 1">
            <a:extLst>
              <a:ext uri="{FF2B5EF4-FFF2-40B4-BE49-F238E27FC236}">
                <a16:creationId xmlns:a16="http://schemas.microsoft.com/office/drawing/2014/main" id="{DE56DAA3-CA68-FCF1-A563-1206485FEB2A}"/>
              </a:ext>
            </a:extLst>
          </p:cNvPr>
          <p:cNvSpPr/>
          <p:nvPr/>
        </p:nvSpPr>
        <p:spPr>
          <a:xfrm>
            <a:off x="434489" y="5243652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B300425-A568-CA9C-46D9-9C08626B0CF3}"/>
              </a:ext>
            </a:extLst>
          </p:cNvPr>
          <p:cNvSpPr txBox="1"/>
          <p:nvPr/>
        </p:nvSpPr>
        <p:spPr>
          <a:xfrm>
            <a:off x="434491" y="5237618"/>
            <a:ext cx="82499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Tendencia estructural al alza en los delitos de </a:t>
            </a:r>
            <a:r>
              <a:rPr lang="es-ES" sz="1600" dirty="0">
                <a:solidFill>
                  <a:srgbClr val="C00000"/>
                </a:solidFill>
              </a:rPr>
              <a:t>odio</a:t>
            </a:r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 registrados desde 2014</a:t>
            </a:r>
          </a:p>
        </p:txBody>
      </p:sp>
      <p:sp>
        <p:nvSpPr>
          <p:cNvPr id="52" name="Rectángulo redondeado 1">
            <a:extLst>
              <a:ext uri="{FF2B5EF4-FFF2-40B4-BE49-F238E27FC236}">
                <a16:creationId xmlns:a16="http://schemas.microsoft.com/office/drawing/2014/main" id="{14C2BDD0-E11F-97A1-0606-CE59D17D843F}"/>
              </a:ext>
            </a:extLst>
          </p:cNvPr>
          <p:cNvSpPr/>
          <p:nvPr/>
        </p:nvSpPr>
        <p:spPr>
          <a:xfrm>
            <a:off x="434488" y="5657223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29BE37D-E356-99D0-07BF-991915191A0A}"/>
              </a:ext>
            </a:extLst>
          </p:cNvPr>
          <p:cNvSpPr txBox="1"/>
          <p:nvPr/>
        </p:nvSpPr>
        <p:spPr>
          <a:xfrm>
            <a:off x="434489" y="5651189"/>
            <a:ext cx="8249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Descenso puntual en 2020, asociado al contexto excepcional de la pandemia</a:t>
            </a:r>
          </a:p>
        </p:txBody>
      </p:sp>
      <p:sp>
        <p:nvSpPr>
          <p:cNvPr id="54" name="Rectángulo redondeado 1">
            <a:extLst>
              <a:ext uri="{FF2B5EF4-FFF2-40B4-BE49-F238E27FC236}">
                <a16:creationId xmlns:a16="http://schemas.microsoft.com/office/drawing/2014/main" id="{CCD2FBE6-9313-A6D4-9092-B1D5ED16B4F9}"/>
              </a:ext>
            </a:extLst>
          </p:cNvPr>
          <p:cNvSpPr/>
          <p:nvPr/>
        </p:nvSpPr>
        <p:spPr>
          <a:xfrm>
            <a:off x="430542" y="6077697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5B701369-D20F-642F-200F-0A5A165B1284}"/>
              </a:ext>
            </a:extLst>
          </p:cNvPr>
          <p:cNvSpPr txBox="1"/>
          <p:nvPr/>
        </p:nvSpPr>
        <p:spPr>
          <a:xfrm>
            <a:off x="430542" y="6071663"/>
            <a:ext cx="8253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Máximo histórico en 2023, pese a fluctuaciones puntuales entre años</a:t>
            </a:r>
          </a:p>
        </p:txBody>
      </p:sp>
      <p:pic>
        <p:nvPicPr>
          <p:cNvPr id="8" name="Imagen 7" descr="Gráfico, Gráfico de barras, Histograma&#10;&#10;El contenido generado por IA puede ser incorrecto.">
            <a:extLst>
              <a:ext uri="{FF2B5EF4-FFF2-40B4-BE49-F238E27FC236}">
                <a16:creationId xmlns:a16="http://schemas.microsoft.com/office/drawing/2014/main" id="{2A67E714-E0A0-10E2-805F-0F7342BAD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07" y="1192307"/>
            <a:ext cx="8904547" cy="380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068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78E55-DC4D-7901-CE77-5536B86FD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700DCE2F-7F16-3F9D-055A-6E066D80AE83}"/>
              </a:ext>
            </a:extLst>
          </p:cNvPr>
          <p:cNvSpPr/>
          <p:nvPr/>
        </p:nvSpPr>
        <p:spPr>
          <a:xfrm>
            <a:off x="966738" y="225333"/>
            <a:ext cx="7961333" cy="634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0B7754B-056E-97A8-73D8-41B022EB034D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rgbClr val="0F4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0A96FE-1D21-ECC7-31C6-58BFEA5285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8991" r="19047" b="18878"/>
          <a:stretch/>
        </p:blipFill>
        <p:spPr>
          <a:xfrm>
            <a:off x="215929" y="227845"/>
            <a:ext cx="632390" cy="634681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760A3AA1-DC60-C34F-3BAE-3F2A2519344E}"/>
              </a:ext>
            </a:extLst>
          </p:cNvPr>
          <p:cNvSpPr/>
          <p:nvPr/>
        </p:nvSpPr>
        <p:spPr>
          <a:xfrm>
            <a:off x="966738" y="299144"/>
            <a:ext cx="7963714" cy="4778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0"/>
                <a:solidFill>
                  <a:srgbClr val="0B37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EL </a:t>
            </a:r>
            <a:r>
              <a:rPr lang="es-ES" sz="2400" b="1" cap="none" spc="0" dirty="0">
                <a:ln w="0"/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ODIO</a:t>
            </a:r>
            <a:r>
              <a:rPr lang="es-ES" sz="2400" b="1" cap="none" spc="0" dirty="0">
                <a:ln w="0"/>
                <a:solidFill>
                  <a:srgbClr val="0B37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ES HOMOGÉNEO</a:t>
            </a:r>
          </a:p>
        </p:txBody>
      </p:sp>
      <p:sp>
        <p:nvSpPr>
          <p:cNvPr id="49" name="Rectángulo redondeado 1">
            <a:extLst>
              <a:ext uri="{FF2B5EF4-FFF2-40B4-BE49-F238E27FC236}">
                <a16:creationId xmlns:a16="http://schemas.microsoft.com/office/drawing/2014/main" id="{8DA09379-9D47-CBE3-73A1-EAE0F543BD34}"/>
              </a:ext>
            </a:extLst>
          </p:cNvPr>
          <p:cNvSpPr/>
          <p:nvPr/>
        </p:nvSpPr>
        <p:spPr>
          <a:xfrm>
            <a:off x="434489" y="5243652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E6B2569-E6A4-5216-C926-F2D75CE372B7}"/>
              </a:ext>
            </a:extLst>
          </p:cNvPr>
          <p:cNvSpPr txBox="1"/>
          <p:nvPr/>
        </p:nvSpPr>
        <p:spPr>
          <a:xfrm>
            <a:off x="434491" y="5237618"/>
            <a:ext cx="82499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Racismo y xenofobia concentran de forma persistente el mayor número de incidentes</a:t>
            </a:r>
          </a:p>
        </p:txBody>
      </p:sp>
      <p:sp>
        <p:nvSpPr>
          <p:cNvPr id="52" name="Rectángulo redondeado 1">
            <a:extLst>
              <a:ext uri="{FF2B5EF4-FFF2-40B4-BE49-F238E27FC236}">
                <a16:creationId xmlns:a16="http://schemas.microsoft.com/office/drawing/2014/main" id="{E47D2F74-FF2D-F00B-72F5-D05652C71E5F}"/>
              </a:ext>
            </a:extLst>
          </p:cNvPr>
          <p:cNvSpPr/>
          <p:nvPr/>
        </p:nvSpPr>
        <p:spPr>
          <a:xfrm>
            <a:off x="434488" y="5657223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87E9FFC-F8A8-3267-C104-98EF38074826}"/>
              </a:ext>
            </a:extLst>
          </p:cNvPr>
          <p:cNvSpPr txBox="1"/>
          <p:nvPr/>
        </p:nvSpPr>
        <p:spPr>
          <a:xfrm>
            <a:off x="434489" y="5651189"/>
            <a:ext cx="8249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Los delitos de </a:t>
            </a:r>
            <a:r>
              <a:rPr lang="es-ES" sz="1600" dirty="0">
                <a:solidFill>
                  <a:srgbClr val="C00000"/>
                </a:solidFill>
              </a:rPr>
              <a:t>odio</a:t>
            </a:r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 por orientación sexual muestran un crecimiento sostenido</a:t>
            </a:r>
          </a:p>
        </p:txBody>
      </p:sp>
      <p:sp>
        <p:nvSpPr>
          <p:cNvPr id="54" name="Rectángulo redondeado 1">
            <a:extLst>
              <a:ext uri="{FF2B5EF4-FFF2-40B4-BE49-F238E27FC236}">
                <a16:creationId xmlns:a16="http://schemas.microsoft.com/office/drawing/2014/main" id="{B633177A-ACEA-1D39-FC21-6FEE6F87B010}"/>
              </a:ext>
            </a:extLst>
          </p:cNvPr>
          <p:cNvSpPr/>
          <p:nvPr/>
        </p:nvSpPr>
        <p:spPr>
          <a:xfrm>
            <a:off x="430542" y="6077697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966872C-714A-17A6-1278-C220B797748F}"/>
              </a:ext>
            </a:extLst>
          </p:cNvPr>
          <p:cNvSpPr txBox="1"/>
          <p:nvPr/>
        </p:nvSpPr>
        <p:spPr>
          <a:xfrm>
            <a:off x="430542" y="6071663"/>
            <a:ext cx="8253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El aumento global se explica por la superposición de múltiples dinámicas</a:t>
            </a:r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2B5D9042-4EF3-C8DC-A851-747D95F6ED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07" y="1065978"/>
            <a:ext cx="8904547" cy="395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38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877D-0D3D-E277-6DED-1C52CF3A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780B2A06-1F9A-C397-3254-A3CEB13E37AB}"/>
              </a:ext>
            </a:extLst>
          </p:cNvPr>
          <p:cNvSpPr/>
          <p:nvPr/>
        </p:nvSpPr>
        <p:spPr>
          <a:xfrm>
            <a:off x="966738" y="225333"/>
            <a:ext cx="7961333" cy="634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ED02554-ABE5-8C11-5B2A-DFA4D4988FDE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rgbClr val="0F4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781A7F-5842-2981-C5BF-41223970B16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8991" r="19047" b="18878"/>
          <a:stretch/>
        </p:blipFill>
        <p:spPr>
          <a:xfrm>
            <a:off x="215929" y="227845"/>
            <a:ext cx="632390" cy="634681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624C4A8C-F302-8FD5-22AB-2175F0C35689}"/>
              </a:ext>
            </a:extLst>
          </p:cNvPr>
          <p:cNvSpPr/>
          <p:nvPr/>
        </p:nvSpPr>
        <p:spPr>
          <a:xfrm>
            <a:off x="966738" y="299144"/>
            <a:ext cx="7963714" cy="4778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0"/>
                <a:solidFill>
                  <a:srgbClr val="0B37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NO TODAS LAS FORMAS DE </a:t>
            </a:r>
            <a:r>
              <a:rPr lang="es-ES" sz="2400" b="1" cap="none" spc="0" dirty="0">
                <a:ln w="0"/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ODIO</a:t>
            </a:r>
            <a:r>
              <a:rPr lang="es-ES" sz="2400" b="1" cap="none" spc="0" dirty="0">
                <a:ln w="0"/>
                <a:solidFill>
                  <a:srgbClr val="0B37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EVOLUCIONAN IGUAL</a:t>
            </a:r>
          </a:p>
        </p:txBody>
      </p:sp>
      <p:sp>
        <p:nvSpPr>
          <p:cNvPr id="49" name="Rectángulo redondeado 1">
            <a:extLst>
              <a:ext uri="{FF2B5EF4-FFF2-40B4-BE49-F238E27FC236}">
                <a16:creationId xmlns:a16="http://schemas.microsoft.com/office/drawing/2014/main" id="{CE39B86F-D934-BF2E-2553-A4675EEAEA11}"/>
              </a:ext>
            </a:extLst>
          </p:cNvPr>
          <p:cNvSpPr/>
          <p:nvPr/>
        </p:nvSpPr>
        <p:spPr>
          <a:xfrm>
            <a:off x="434489" y="5243652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56DE941-F51B-F24A-BC01-54749AC8B1F2}"/>
              </a:ext>
            </a:extLst>
          </p:cNvPr>
          <p:cNvSpPr txBox="1"/>
          <p:nvPr/>
        </p:nvSpPr>
        <p:spPr>
          <a:xfrm>
            <a:off x="434491" y="5237618"/>
            <a:ext cx="82499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Racismo y xenofobia concentran el mayor incremento absoluto en la última década</a:t>
            </a:r>
          </a:p>
        </p:txBody>
      </p:sp>
      <p:sp>
        <p:nvSpPr>
          <p:cNvPr id="52" name="Rectángulo redondeado 1">
            <a:extLst>
              <a:ext uri="{FF2B5EF4-FFF2-40B4-BE49-F238E27FC236}">
                <a16:creationId xmlns:a16="http://schemas.microsoft.com/office/drawing/2014/main" id="{E43DFC40-BA34-541D-F72C-B6BDC5D2C39F}"/>
              </a:ext>
            </a:extLst>
          </p:cNvPr>
          <p:cNvSpPr/>
          <p:nvPr/>
        </p:nvSpPr>
        <p:spPr>
          <a:xfrm>
            <a:off x="434488" y="5657223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0FB1FA30-64B2-3F54-D75E-2A019DCB1094}"/>
              </a:ext>
            </a:extLst>
          </p:cNvPr>
          <p:cNvSpPr txBox="1"/>
          <p:nvPr/>
        </p:nvSpPr>
        <p:spPr>
          <a:xfrm>
            <a:off x="434489" y="5651189"/>
            <a:ext cx="8249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Otras tipologías muestran crecimiento moderado en trayectorias divergentes</a:t>
            </a:r>
          </a:p>
        </p:txBody>
      </p:sp>
      <p:sp>
        <p:nvSpPr>
          <p:cNvPr id="54" name="Rectángulo redondeado 1">
            <a:extLst>
              <a:ext uri="{FF2B5EF4-FFF2-40B4-BE49-F238E27FC236}">
                <a16:creationId xmlns:a16="http://schemas.microsoft.com/office/drawing/2014/main" id="{A548B38F-106E-D5FD-B8B8-5BC133A43EAE}"/>
              </a:ext>
            </a:extLst>
          </p:cNvPr>
          <p:cNvSpPr/>
          <p:nvPr/>
        </p:nvSpPr>
        <p:spPr>
          <a:xfrm>
            <a:off x="430542" y="6077697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EBB86036-4206-1626-C087-511055BB3203}"/>
              </a:ext>
            </a:extLst>
          </p:cNvPr>
          <p:cNvSpPr txBox="1"/>
          <p:nvPr/>
        </p:nvSpPr>
        <p:spPr>
          <a:xfrm>
            <a:off x="430542" y="6071663"/>
            <a:ext cx="8253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La evolución diferenciada apunta a factores explicativos múltiples</a:t>
            </a:r>
          </a:p>
        </p:txBody>
      </p:sp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F11414F-21CD-9C7B-C898-38399B2BA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3"/>
          <a:stretch>
            <a:fillRect/>
          </a:stretch>
        </p:blipFill>
        <p:spPr>
          <a:xfrm>
            <a:off x="173651" y="1096622"/>
            <a:ext cx="8767710" cy="391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3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CBC71-B421-F9FC-2AAC-AE48A0A3C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8960BD08-3542-6D51-A989-AFD518F8BDE6}"/>
              </a:ext>
            </a:extLst>
          </p:cNvPr>
          <p:cNvSpPr/>
          <p:nvPr/>
        </p:nvSpPr>
        <p:spPr>
          <a:xfrm>
            <a:off x="966738" y="225333"/>
            <a:ext cx="7961333" cy="634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7B814F8-F7E3-C2C5-F755-1F16049E7F42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rgbClr val="0F4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7BF727-8BE7-C606-C12A-005D6FD91F2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8991" r="19047" b="18878"/>
          <a:stretch/>
        </p:blipFill>
        <p:spPr>
          <a:xfrm>
            <a:off x="215929" y="227845"/>
            <a:ext cx="632390" cy="634681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18486901-DBDD-2C7F-68EA-658443779CA6}"/>
              </a:ext>
            </a:extLst>
          </p:cNvPr>
          <p:cNvSpPr/>
          <p:nvPr/>
        </p:nvSpPr>
        <p:spPr>
          <a:xfrm>
            <a:off x="966738" y="299144"/>
            <a:ext cx="7963714" cy="4778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0"/>
                <a:solidFill>
                  <a:srgbClr val="0B37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INCIDENCIA TERRITORIAL DEL </a:t>
            </a:r>
            <a:r>
              <a:rPr lang="es-ES" sz="2400" b="1" cap="none" spc="0" dirty="0">
                <a:ln w="0"/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ODIO</a:t>
            </a:r>
          </a:p>
        </p:txBody>
      </p:sp>
      <p:sp>
        <p:nvSpPr>
          <p:cNvPr id="52" name="Rectángulo redondeado 1">
            <a:extLst>
              <a:ext uri="{FF2B5EF4-FFF2-40B4-BE49-F238E27FC236}">
                <a16:creationId xmlns:a16="http://schemas.microsoft.com/office/drawing/2014/main" id="{9E6FC168-DD0E-A0AF-091F-FA98A493DA12}"/>
              </a:ext>
            </a:extLst>
          </p:cNvPr>
          <p:cNvSpPr/>
          <p:nvPr/>
        </p:nvSpPr>
        <p:spPr>
          <a:xfrm>
            <a:off x="434488" y="5657223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9DE25EC3-8041-3FA3-8D89-F3F50A94044E}"/>
              </a:ext>
            </a:extLst>
          </p:cNvPr>
          <p:cNvSpPr txBox="1"/>
          <p:nvPr/>
        </p:nvSpPr>
        <p:spPr>
          <a:xfrm>
            <a:off x="434488" y="5659735"/>
            <a:ext cx="8259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Se observan focos geográficos con mayor incidencia relativa de casos de delitos de </a:t>
            </a:r>
            <a:r>
              <a:rPr lang="es-ES" sz="1600" dirty="0">
                <a:solidFill>
                  <a:srgbClr val="C00000"/>
                </a:solidFill>
              </a:rPr>
              <a:t>odio</a:t>
            </a:r>
          </a:p>
        </p:txBody>
      </p:sp>
      <p:sp>
        <p:nvSpPr>
          <p:cNvPr id="54" name="Rectángulo redondeado 1">
            <a:extLst>
              <a:ext uri="{FF2B5EF4-FFF2-40B4-BE49-F238E27FC236}">
                <a16:creationId xmlns:a16="http://schemas.microsoft.com/office/drawing/2014/main" id="{06A4C456-A0B5-6DD6-EC50-A68345C78BE5}"/>
              </a:ext>
            </a:extLst>
          </p:cNvPr>
          <p:cNvSpPr/>
          <p:nvPr/>
        </p:nvSpPr>
        <p:spPr>
          <a:xfrm>
            <a:off x="430542" y="6077697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361627F-EF0E-E253-6E3E-12F7E31AC617}"/>
              </a:ext>
            </a:extLst>
          </p:cNvPr>
          <p:cNvSpPr txBox="1"/>
          <p:nvPr/>
        </p:nvSpPr>
        <p:spPr>
          <a:xfrm>
            <a:off x="430542" y="6077697"/>
            <a:ext cx="8263788" cy="34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Las diferencias territoriales apuntan a la influencia de factores sociales y contextuales</a:t>
            </a:r>
          </a:p>
        </p:txBody>
      </p:sp>
      <p:pic>
        <p:nvPicPr>
          <p:cNvPr id="6" name="Imagen 5" descr="Mapa&#10;&#10;El contenido generado por IA puede ser incorrecto.">
            <a:extLst>
              <a:ext uri="{FF2B5EF4-FFF2-40B4-BE49-F238E27FC236}">
                <a16:creationId xmlns:a16="http://schemas.microsoft.com/office/drawing/2014/main" id="{13B6B4FF-0C44-AE75-5AE7-7847C41FD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3"/>
          <a:stretch>
            <a:fillRect/>
          </a:stretch>
        </p:blipFill>
        <p:spPr>
          <a:xfrm>
            <a:off x="1157322" y="1288084"/>
            <a:ext cx="6829356" cy="4277548"/>
          </a:xfrm>
          <a:prstGeom prst="rect">
            <a:avLst/>
          </a:prstGeom>
        </p:spPr>
      </p:pic>
      <p:pic>
        <p:nvPicPr>
          <p:cNvPr id="8" name="Imagen 7" descr="Mapa&#10;&#10;El contenido generado por IA puede ser incorrecto.">
            <a:extLst>
              <a:ext uri="{FF2B5EF4-FFF2-40B4-BE49-F238E27FC236}">
                <a16:creationId xmlns:a16="http://schemas.microsoft.com/office/drawing/2014/main" id="{7B4B93AE-1FEA-1241-CBDC-10137F06F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3" b="95638"/>
          <a:stretch>
            <a:fillRect/>
          </a:stretch>
        </p:blipFill>
        <p:spPr>
          <a:xfrm>
            <a:off x="1532726" y="972448"/>
            <a:ext cx="6829356" cy="26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59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48344-6218-BB76-6C1D-5E7EF728B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7AC2F19E-3460-BE9A-83FF-F28F4469090C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rgbClr val="0F4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CB403E-F5F3-D292-65DD-4C2B3E4B72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8991" r="19047" b="18878"/>
          <a:stretch/>
        </p:blipFill>
        <p:spPr>
          <a:xfrm>
            <a:off x="215929" y="227845"/>
            <a:ext cx="632390" cy="63468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575C3C1-1AE4-4218-01DC-9B7724922349}"/>
              </a:ext>
            </a:extLst>
          </p:cNvPr>
          <p:cNvSpPr txBox="1"/>
          <p:nvPr/>
        </p:nvSpPr>
        <p:spPr>
          <a:xfrm>
            <a:off x="123399" y="1600878"/>
            <a:ext cx="889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75000"/>
                  </a:schemeClr>
                </a:solidFill>
              </a:rPr>
              <a:t>pero... ¿estamos tan mal en </a:t>
            </a:r>
            <a:r>
              <a:rPr lang="es-ES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España</a:t>
            </a:r>
            <a:r>
              <a:rPr lang="es-ES" sz="2400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1AEAC9-F14A-813A-A289-7BD2309603ED}"/>
              </a:ext>
            </a:extLst>
          </p:cNvPr>
          <p:cNvSpPr txBox="1"/>
          <p:nvPr/>
        </p:nvSpPr>
        <p:spPr>
          <a:xfrm>
            <a:off x="123398" y="2995276"/>
            <a:ext cx="8897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75000"/>
                  </a:schemeClr>
                </a:solidFill>
              </a:rPr>
              <a:t>¿a qué se debe realmente esta tendencia creciente del </a:t>
            </a:r>
            <a:r>
              <a:rPr lang="es-ES" sz="2400" b="1" dirty="0">
                <a:solidFill>
                  <a:srgbClr val="C00000"/>
                </a:solidFill>
              </a:rPr>
              <a:t>odio</a:t>
            </a:r>
            <a:r>
              <a:rPr lang="es-ES" sz="2400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A4EBBD-1518-6DF0-C4D0-1D4AA9CFC352}"/>
              </a:ext>
            </a:extLst>
          </p:cNvPr>
          <p:cNvSpPr txBox="1"/>
          <p:nvPr/>
        </p:nvSpPr>
        <p:spPr>
          <a:xfrm>
            <a:off x="123398" y="4389674"/>
            <a:ext cx="8897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75000"/>
                  </a:schemeClr>
                </a:solidFill>
              </a:rPr>
              <a:t>tratemos de averiguarlo explorando </a:t>
            </a:r>
          </a:p>
          <a:p>
            <a:pPr algn="ctr"/>
            <a:r>
              <a:rPr lang="es-ES" sz="2400" b="1" dirty="0">
                <a:solidFill>
                  <a:schemeClr val="accent1">
                    <a:lumMod val="75000"/>
                  </a:schemeClr>
                </a:solidFill>
              </a:rPr>
              <a:t>la </a:t>
            </a:r>
            <a:r>
              <a:rPr lang="es-ES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educación</a:t>
            </a:r>
            <a:r>
              <a:rPr lang="es-ES" sz="2400" b="1" dirty="0">
                <a:solidFill>
                  <a:schemeClr val="accent1">
                    <a:lumMod val="75000"/>
                  </a:schemeClr>
                </a:solidFill>
              </a:rPr>
              <a:t> y la </a:t>
            </a:r>
            <a:r>
              <a:rPr lang="es-ES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concienciación social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  <a:p>
            <a:pPr algn="ctr"/>
            <a:r>
              <a:rPr lang="es-ES" sz="2400" b="1" dirty="0">
                <a:solidFill>
                  <a:schemeClr val="accent1">
                    <a:lumMod val="75000"/>
                  </a:schemeClr>
                </a:solidFill>
              </a:rPr>
              <a:t>en España en el contexto de la UE</a:t>
            </a:r>
          </a:p>
        </p:txBody>
      </p:sp>
    </p:spTree>
    <p:extLst>
      <p:ext uri="{BB962C8B-B14F-4D97-AF65-F5344CB8AC3E}">
        <p14:creationId xmlns:p14="http://schemas.microsoft.com/office/powerpoint/2010/main" val="3475854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C038B-CDAA-9F3E-DC70-7855D3718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E3BD6D0B-E794-9DCF-DDE0-8376DB01310E}"/>
              </a:ext>
            </a:extLst>
          </p:cNvPr>
          <p:cNvSpPr/>
          <p:nvPr/>
        </p:nvSpPr>
        <p:spPr>
          <a:xfrm>
            <a:off x="966738" y="225333"/>
            <a:ext cx="7961333" cy="634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E8710F1-E1B2-57A8-7F23-64EBEBB79E3B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rgbClr val="0F4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452E5F-B4E4-CE5C-19AD-3D65E007BD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8991" r="19047" b="18878"/>
          <a:stretch/>
        </p:blipFill>
        <p:spPr>
          <a:xfrm>
            <a:off x="215929" y="227845"/>
            <a:ext cx="632390" cy="634681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352F627D-838C-85A3-2628-945FBC62A7A0}"/>
              </a:ext>
            </a:extLst>
          </p:cNvPr>
          <p:cNvSpPr/>
          <p:nvPr/>
        </p:nvSpPr>
        <p:spPr>
          <a:xfrm>
            <a:off x="966738" y="299144"/>
            <a:ext cx="7963714" cy="4778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0"/>
                <a:solidFill>
                  <a:srgbClr val="0B37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ESPAÑA EN EL CONTEXTO EDUCATIVO EUROPEO</a:t>
            </a:r>
            <a:endParaRPr lang="es-ES" sz="2400" b="1" cap="none" spc="0" dirty="0">
              <a:ln w="0"/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ángulo redondeado 1">
            <a:extLst>
              <a:ext uri="{FF2B5EF4-FFF2-40B4-BE49-F238E27FC236}">
                <a16:creationId xmlns:a16="http://schemas.microsoft.com/office/drawing/2014/main" id="{3E62A1BA-957A-C687-4575-8CD5243AAF55}"/>
              </a:ext>
            </a:extLst>
          </p:cNvPr>
          <p:cNvSpPr/>
          <p:nvPr/>
        </p:nvSpPr>
        <p:spPr>
          <a:xfrm>
            <a:off x="434489" y="5243652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E8F97FD-C2DC-4945-1934-0E686FD1FF3B}"/>
              </a:ext>
            </a:extLst>
          </p:cNvPr>
          <p:cNvSpPr txBox="1"/>
          <p:nvPr/>
        </p:nvSpPr>
        <p:spPr>
          <a:xfrm>
            <a:off x="434491" y="5237618"/>
            <a:ext cx="82499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España supera la media de la UE en población con educación superior</a:t>
            </a:r>
          </a:p>
        </p:txBody>
      </p:sp>
      <p:sp>
        <p:nvSpPr>
          <p:cNvPr id="12" name="Rectángulo redondeado 1">
            <a:extLst>
              <a:ext uri="{FF2B5EF4-FFF2-40B4-BE49-F238E27FC236}">
                <a16:creationId xmlns:a16="http://schemas.microsoft.com/office/drawing/2014/main" id="{F0F1384D-9F85-F067-F129-815F6C9AB3F1}"/>
              </a:ext>
            </a:extLst>
          </p:cNvPr>
          <p:cNvSpPr/>
          <p:nvPr/>
        </p:nvSpPr>
        <p:spPr>
          <a:xfrm>
            <a:off x="434488" y="5657223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747775A-A953-C7BE-46DA-E3B98C7F2398}"/>
              </a:ext>
            </a:extLst>
          </p:cNvPr>
          <p:cNvSpPr txBox="1"/>
          <p:nvPr/>
        </p:nvSpPr>
        <p:spPr>
          <a:xfrm>
            <a:off x="434489" y="5651189"/>
            <a:ext cx="8249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El capital educativo existente constituye un activo estratégico para impulsar el cambio</a:t>
            </a:r>
          </a:p>
        </p:txBody>
      </p:sp>
      <p:sp>
        <p:nvSpPr>
          <p:cNvPr id="14" name="Rectángulo redondeado 1">
            <a:extLst>
              <a:ext uri="{FF2B5EF4-FFF2-40B4-BE49-F238E27FC236}">
                <a16:creationId xmlns:a16="http://schemas.microsoft.com/office/drawing/2014/main" id="{8056D770-9E5D-1BC8-B42E-E5801F087ACD}"/>
              </a:ext>
            </a:extLst>
          </p:cNvPr>
          <p:cNvSpPr/>
          <p:nvPr/>
        </p:nvSpPr>
        <p:spPr>
          <a:xfrm>
            <a:off x="430542" y="6077697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FF380C-932C-EE06-B21A-2A5D81419499}"/>
              </a:ext>
            </a:extLst>
          </p:cNvPr>
          <p:cNvSpPr txBox="1"/>
          <p:nvPr/>
        </p:nvSpPr>
        <p:spPr>
          <a:xfrm>
            <a:off x="430542" y="6071663"/>
            <a:ext cx="8253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La educación emerge como palanca realista de intervención ante el odio</a:t>
            </a:r>
          </a:p>
        </p:txBody>
      </p:sp>
      <p:pic>
        <p:nvPicPr>
          <p:cNvPr id="6" name="Imagen 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AF5281B5-5B83-CD58-00B6-72C5E50566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88"/>
          <a:stretch>
            <a:fillRect/>
          </a:stretch>
        </p:blipFill>
        <p:spPr>
          <a:xfrm>
            <a:off x="154034" y="1520890"/>
            <a:ext cx="8835931" cy="3497213"/>
          </a:xfrm>
          <a:prstGeom prst="rect">
            <a:avLst/>
          </a:prstGeom>
        </p:spPr>
      </p:pic>
      <p:pic>
        <p:nvPicPr>
          <p:cNvPr id="8" name="Imagen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A18B66E-A68A-9AF4-93BC-DBC175C916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76" t="-576" r="20685" b="94963"/>
          <a:stretch>
            <a:fillRect/>
          </a:stretch>
        </p:blipFill>
        <p:spPr>
          <a:xfrm>
            <a:off x="2192195" y="1435333"/>
            <a:ext cx="4730621" cy="21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28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A18C6-B5C6-EABC-7DFD-E5352F51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4384248B-E045-45FD-5149-B6C6E531EBBF}"/>
              </a:ext>
            </a:extLst>
          </p:cNvPr>
          <p:cNvSpPr/>
          <p:nvPr/>
        </p:nvSpPr>
        <p:spPr>
          <a:xfrm>
            <a:off x="966738" y="225333"/>
            <a:ext cx="7961333" cy="634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F0F8D4C-3BF2-84DA-3F15-2485FD7F2055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rgbClr val="0F4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CA4BDF5-0585-6F46-9AD9-4B0B638354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8991" r="19047" b="18878"/>
          <a:stretch/>
        </p:blipFill>
        <p:spPr>
          <a:xfrm>
            <a:off x="215929" y="227845"/>
            <a:ext cx="632390" cy="634681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E8888F30-811F-4B67-F44C-676A13D26C85}"/>
              </a:ext>
            </a:extLst>
          </p:cNvPr>
          <p:cNvSpPr/>
          <p:nvPr/>
        </p:nvSpPr>
        <p:spPr>
          <a:xfrm>
            <a:off x="966738" y="299144"/>
            <a:ext cx="7963714" cy="4778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0"/>
                <a:solidFill>
                  <a:srgbClr val="0B37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ESPAÑA EN EL CONTEXTO DE LA CONCIENCIA SOCIAL</a:t>
            </a:r>
            <a:endParaRPr lang="es-ES" sz="2400" b="1" cap="none" spc="0" dirty="0">
              <a:ln w="0"/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ángulo redondeado 1">
            <a:extLst>
              <a:ext uri="{FF2B5EF4-FFF2-40B4-BE49-F238E27FC236}">
                <a16:creationId xmlns:a16="http://schemas.microsoft.com/office/drawing/2014/main" id="{DEDF272C-F842-854C-64EF-3CF8DC672B20}"/>
              </a:ext>
            </a:extLst>
          </p:cNvPr>
          <p:cNvSpPr/>
          <p:nvPr/>
        </p:nvSpPr>
        <p:spPr>
          <a:xfrm>
            <a:off x="434489" y="5243652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D49063-F6ED-E8ED-5AF5-072C5F0D5DA0}"/>
              </a:ext>
            </a:extLst>
          </p:cNvPr>
          <p:cNvSpPr txBox="1"/>
          <p:nvPr/>
        </p:nvSpPr>
        <p:spPr>
          <a:xfrm>
            <a:off x="434491" y="5237618"/>
            <a:ext cx="82499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El eje 0 representa el promedio de la OCDE </a:t>
            </a:r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y se utiliza como línea de referencia</a:t>
            </a:r>
          </a:p>
        </p:txBody>
      </p:sp>
      <p:sp>
        <p:nvSpPr>
          <p:cNvPr id="12" name="Rectángulo redondeado 1">
            <a:extLst>
              <a:ext uri="{FF2B5EF4-FFF2-40B4-BE49-F238E27FC236}">
                <a16:creationId xmlns:a16="http://schemas.microsoft.com/office/drawing/2014/main" id="{380A376E-F6A9-7161-4C8A-006304ED50F9}"/>
              </a:ext>
            </a:extLst>
          </p:cNvPr>
          <p:cNvSpPr/>
          <p:nvPr/>
        </p:nvSpPr>
        <p:spPr>
          <a:xfrm>
            <a:off x="434488" y="5657223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D454B35-901C-51DE-9B37-8C6D6387DF9D}"/>
              </a:ext>
            </a:extLst>
          </p:cNvPr>
          <p:cNvSpPr txBox="1"/>
          <p:nvPr/>
        </p:nvSpPr>
        <p:spPr>
          <a:xfrm>
            <a:off x="434489" y="5651189"/>
            <a:ext cx="8249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España se sitúa claramente por encima del promedio OCDE en materia de conciencia social</a:t>
            </a:r>
          </a:p>
        </p:txBody>
      </p:sp>
      <p:sp>
        <p:nvSpPr>
          <p:cNvPr id="14" name="Rectángulo redondeado 1">
            <a:extLst>
              <a:ext uri="{FF2B5EF4-FFF2-40B4-BE49-F238E27FC236}">
                <a16:creationId xmlns:a16="http://schemas.microsoft.com/office/drawing/2014/main" id="{457D7DCC-49D4-2525-BE36-0D84C21B48E7}"/>
              </a:ext>
            </a:extLst>
          </p:cNvPr>
          <p:cNvSpPr/>
          <p:nvPr/>
        </p:nvSpPr>
        <p:spPr>
          <a:xfrm>
            <a:off x="430542" y="6077697"/>
            <a:ext cx="8263788" cy="338555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21CC3D4-F5D0-5BF4-4E18-FB31D32AB8EE}"/>
              </a:ext>
            </a:extLst>
          </p:cNvPr>
          <p:cNvSpPr txBox="1"/>
          <p:nvPr/>
        </p:nvSpPr>
        <p:spPr>
          <a:xfrm>
            <a:off x="430542" y="6071663"/>
            <a:ext cx="8253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Los países europeos muestran niveles muy dispares de conciencia social</a:t>
            </a:r>
          </a:p>
        </p:txBody>
      </p:sp>
      <p:pic>
        <p:nvPicPr>
          <p:cNvPr id="7" name="Imagen 6" descr="Gráfico, Escala de tiempo&#10;&#10;El contenido generado por IA puede ser incorrecto.">
            <a:extLst>
              <a:ext uri="{FF2B5EF4-FFF2-40B4-BE49-F238E27FC236}">
                <a16:creationId xmlns:a16="http://schemas.microsoft.com/office/drawing/2014/main" id="{FB2CD1BD-B127-5EBC-92C6-CD4BC0F33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97"/>
          <a:stretch>
            <a:fillRect/>
          </a:stretch>
        </p:blipFill>
        <p:spPr>
          <a:xfrm>
            <a:off x="152520" y="1524000"/>
            <a:ext cx="8843721" cy="3602429"/>
          </a:xfrm>
          <a:prstGeom prst="rect">
            <a:avLst/>
          </a:prstGeom>
        </p:spPr>
      </p:pic>
      <p:pic>
        <p:nvPicPr>
          <p:cNvPr id="16" name="Imagen 15" descr="Gráfico, Escala de tiempo&#10;&#10;El contenido generado por IA puede ser incorrecto.">
            <a:extLst>
              <a:ext uri="{FF2B5EF4-FFF2-40B4-BE49-F238E27FC236}">
                <a16:creationId xmlns:a16="http://schemas.microsoft.com/office/drawing/2014/main" id="{6A2A44A7-7F4A-7473-AD4A-C3B455F51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92" t="41" r="26678" b="91537"/>
          <a:stretch>
            <a:fillRect/>
          </a:stretch>
        </p:blipFill>
        <p:spPr>
          <a:xfrm>
            <a:off x="2737960" y="1424267"/>
            <a:ext cx="3672840" cy="33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08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74F5-AA97-9BEF-C170-94FAE3DD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8D93E87F-AC00-CC1C-0D86-EE93FBCA31A9}"/>
              </a:ext>
            </a:extLst>
          </p:cNvPr>
          <p:cNvSpPr/>
          <p:nvPr/>
        </p:nvSpPr>
        <p:spPr>
          <a:xfrm>
            <a:off x="966738" y="225333"/>
            <a:ext cx="7961333" cy="634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F60D00D2-CA34-0664-A723-40E008C9EAD4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rgbClr val="0F4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F69ECA-4937-E0E8-32D7-382E328FF1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8991" r="19047" b="18878"/>
          <a:stretch/>
        </p:blipFill>
        <p:spPr>
          <a:xfrm>
            <a:off x="215929" y="227845"/>
            <a:ext cx="632390" cy="634681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A09F7C1-9EC7-4BF9-F915-25CA17E525DB}"/>
              </a:ext>
            </a:extLst>
          </p:cNvPr>
          <p:cNvSpPr/>
          <p:nvPr/>
        </p:nvSpPr>
        <p:spPr>
          <a:xfrm>
            <a:off x="966738" y="299144"/>
            <a:ext cx="7963714" cy="4778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0"/>
                <a:solidFill>
                  <a:srgbClr val="0B37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CAPITAL EDUCATIVO Y CONCIENCIA SOCIAL</a:t>
            </a:r>
            <a:endParaRPr lang="es-ES" sz="2400" b="1" cap="none" spc="0" dirty="0">
              <a:ln w="0"/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ángulo redondeado 1">
            <a:extLst>
              <a:ext uri="{FF2B5EF4-FFF2-40B4-BE49-F238E27FC236}">
                <a16:creationId xmlns:a16="http://schemas.microsoft.com/office/drawing/2014/main" id="{CA43B1CE-556A-015F-BDEB-EAD00F8B36D3}"/>
              </a:ext>
            </a:extLst>
          </p:cNvPr>
          <p:cNvSpPr/>
          <p:nvPr/>
        </p:nvSpPr>
        <p:spPr>
          <a:xfrm>
            <a:off x="430542" y="6077697"/>
            <a:ext cx="8263788" cy="552458"/>
          </a:xfrm>
          <a:prstGeom prst="round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D5A8667-E60B-3CF5-2826-68BF49393B3C}"/>
              </a:ext>
            </a:extLst>
          </p:cNvPr>
          <p:cNvSpPr txBox="1"/>
          <p:nvPr/>
        </p:nvSpPr>
        <p:spPr>
          <a:xfrm>
            <a:off x="430542" y="6061538"/>
            <a:ext cx="8263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Los países se distribuyen de forma dispersa en 4 cuadrantes, </a:t>
            </a:r>
          </a:p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evidenciando trayectorias educativas y sociales muy heterogéneas dentro de la UE</a:t>
            </a:r>
          </a:p>
        </p:txBody>
      </p:sp>
      <p:pic>
        <p:nvPicPr>
          <p:cNvPr id="22" name="Imagen 21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917F1157-2DE0-048C-1D51-3124B61E87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29" y="928876"/>
            <a:ext cx="8713458" cy="494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14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8F4AD-CB98-05EB-7196-303AC652C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8411DC01-253E-269F-2272-C750C589418D}"/>
              </a:ext>
            </a:extLst>
          </p:cNvPr>
          <p:cNvSpPr/>
          <p:nvPr/>
        </p:nvSpPr>
        <p:spPr>
          <a:xfrm>
            <a:off x="966738" y="225333"/>
            <a:ext cx="7961333" cy="634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AA69D02-D1BD-C062-449D-63E45C0A8FC1}"/>
              </a:ext>
            </a:extLst>
          </p:cNvPr>
          <p:cNvSpPr/>
          <p:nvPr/>
        </p:nvSpPr>
        <p:spPr>
          <a:xfrm>
            <a:off x="97509" y="-16474"/>
            <a:ext cx="71045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0"/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2800" b="1" dirty="0">
                <a:ln w="0"/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</a:t>
            </a:r>
            <a:endParaRPr lang="es-ES" sz="2800" b="1" cap="none" spc="0" dirty="0">
              <a:ln w="0"/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77C1228-CC15-921C-020F-B1F5A2D9F197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rgbClr val="0F4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965C826-FB23-2F57-F1F8-B1E8F1ABA4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8991" r="19047" b="18878"/>
          <a:stretch/>
        </p:blipFill>
        <p:spPr>
          <a:xfrm>
            <a:off x="215929" y="227845"/>
            <a:ext cx="632390" cy="634681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59E1CA64-21E2-10D7-3559-C4ADF2F00343}"/>
              </a:ext>
            </a:extLst>
          </p:cNvPr>
          <p:cNvSpPr/>
          <p:nvPr/>
        </p:nvSpPr>
        <p:spPr>
          <a:xfrm>
            <a:off x="966738" y="299144"/>
            <a:ext cx="7963714" cy="4778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0"/>
                <a:solidFill>
                  <a:srgbClr val="0B37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LOS CATALIZADORES DEL CAMBIO</a:t>
            </a:r>
            <a:endParaRPr lang="es-ES" sz="2400" b="1" cap="none" spc="0" dirty="0">
              <a:ln w="0"/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4238125B-5216-7551-285F-4BDAF4BC0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69" y="1799828"/>
            <a:ext cx="8177262" cy="2577894"/>
          </a:xfrm>
          <a:prstGeom prst="rect">
            <a:avLst/>
          </a:prstGeom>
        </p:spPr>
      </p:pic>
      <p:sp>
        <p:nvSpPr>
          <p:cNvPr id="10" name="Rectángulo redondeado 1">
            <a:extLst>
              <a:ext uri="{FF2B5EF4-FFF2-40B4-BE49-F238E27FC236}">
                <a16:creationId xmlns:a16="http://schemas.microsoft.com/office/drawing/2014/main" id="{9FD54B61-1DED-4DE0-F041-4037413556AE}"/>
              </a:ext>
            </a:extLst>
          </p:cNvPr>
          <p:cNvSpPr/>
          <p:nvPr/>
        </p:nvSpPr>
        <p:spPr>
          <a:xfrm>
            <a:off x="434489" y="5243652"/>
            <a:ext cx="8263788" cy="338555"/>
          </a:xfrm>
          <a:prstGeom prst="roundRect">
            <a:avLst/>
          </a:prstGeom>
          <a:solidFill>
            <a:srgbClr val="FF7C80"/>
          </a:solidFill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BFF3B8D-042F-9181-67A7-CEB674D42F42}"/>
              </a:ext>
            </a:extLst>
          </p:cNvPr>
          <p:cNvSpPr txBox="1"/>
          <p:nvPr/>
        </p:nvSpPr>
        <p:spPr>
          <a:xfrm>
            <a:off x="434491" y="5237618"/>
            <a:ext cx="824603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rgbClr val="C00000"/>
                </a:solidFill>
              </a:rPr>
              <a:t>El odio se activa y escala a través del conflicto y la discriminación cotidiana</a:t>
            </a:r>
          </a:p>
        </p:txBody>
      </p:sp>
      <p:sp>
        <p:nvSpPr>
          <p:cNvPr id="12" name="Rectángulo redondeado 1">
            <a:extLst>
              <a:ext uri="{FF2B5EF4-FFF2-40B4-BE49-F238E27FC236}">
                <a16:creationId xmlns:a16="http://schemas.microsoft.com/office/drawing/2014/main" id="{BADE5377-E7A4-3E35-2473-8672497FAF8D}"/>
              </a:ext>
            </a:extLst>
          </p:cNvPr>
          <p:cNvSpPr/>
          <p:nvPr/>
        </p:nvSpPr>
        <p:spPr>
          <a:xfrm>
            <a:off x="434488" y="5657223"/>
            <a:ext cx="8263788" cy="33855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35CBA6E-3D48-5F7D-E29D-10652C578963}"/>
              </a:ext>
            </a:extLst>
          </p:cNvPr>
          <p:cNvSpPr txBox="1"/>
          <p:nvPr/>
        </p:nvSpPr>
        <p:spPr>
          <a:xfrm>
            <a:off x="434489" y="5651189"/>
            <a:ext cx="8249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</a:rPr>
              <a:t>La educación y concienciación social actúan como catalizadores clave del cambio</a:t>
            </a:r>
          </a:p>
        </p:txBody>
      </p:sp>
      <p:sp>
        <p:nvSpPr>
          <p:cNvPr id="14" name="Rectángulo redondeado 1">
            <a:extLst>
              <a:ext uri="{FF2B5EF4-FFF2-40B4-BE49-F238E27FC236}">
                <a16:creationId xmlns:a16="http://schemas.microsoft.com/office/drawing/2014/main" id="{CB2BE99B-7215-1FC0-802B-927C4363A62E}"/>
              </a:ext>
            </a:extLst>
          </p:cNvPr>
          <p:cNvSpPr/>
          <p:nvPr/>
        </p:nvSpPr>
        <p:spPr>
          <a:xfrm>
            <a:off x="430542" y="6077697"/>
            <a:ext cx="8263788" cy="3385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C3F6AFF-A5CF-D054-3602-4E526C1BF6A4}"/>
              </a:ext>
            </a:extLst>
          </p:cNvPr>
          <p:cNvSpPr txBox="1"/>
          <p:nvPr/>
        </p:nvSpPr>
        <p:spPr>
          <a:xfrm>
            <a:off x="430542" y="6071663"/>
            <a:ext cx="8249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Una mayor identificación y denuncia mejora el registro de los casos, visibilizando el problema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66DA43-5C09-BDC3-47A8-A5CA9B6A8E8A}"/>
              </a:ext>
            </a:extLst>
          </p:cNvPr>
          <p:cNvSpPr/>
          <p:nvPr/>
        </p:nvSpPr>
        <p:spPr>
          <a:xfrm>
            <a:off x="416736" y="1708467"/>
            <a:ext cx="5009205" cy="73038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5DA351-EFA2-365C-AFF5-FD84A1FACD64}"/>
              </a:ext>
            </a:extLst>
          </p:cNvPr>
          <p:cNvSpPr/>
          <p:nvPr/>
        </p:nvSpPr>
        <p:spPr>
          <a:xfrm>
            <a:off x="3746431" y="3708376"/>
            <a:ext cx="4934093" cy="730385"/>
          </a:xfrm>
          <a:prstGeom prst="rect">
            <a:avLst/>
          </a:prstGeom>
          <a:noFill/>
          <a:ln w="25400">
            <a:solidFill>
              <a:srgbClr val="3484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2B05BC-7C97-62D8-725C-525ACC7C5653}"/>
              </a:ext>
            </a:extLst>
          </p:cNvPr>
          <p:cNvSpPr txBox="1"/>
          <p:nvPr/>
        </p:nvSpPr>
        <p:spPr>
          <a:xfrm>
            <a:off x="416736" y="1369913"/>
            <a:ext cx="5009205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700" b="1" dirty="0">
                <a:solidFill>
                  <a:srgbClr val="C00000"/>
                </a:solidFill>
              </a:rPr>
              <a:t>Plano social</a:t>
            </a:r>
            <a:endParaRPr lang="es-ES" sz="1700" dirty="0">
              <a:solidFill>
                <a:srgbClr val="C0000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4B9A40-D8D2-8ACD-0C70-F8F57B7E050B}"/>
              </a:ext>
            </a:extLst>
          </p:cNvPr>
          <p:cNvSpPr txBox="1"/>
          <p:nvPr/>
        </p:nvSpPr>
        <p:spPr>
          <a:xfrm>
            <a:off x="3746431" y="4463020"/>
            <a:ext cx="4934093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700" b="1" dirty="0">
                <a:solidFill>
                  <a:srgbClr val="3484CC"/>
                </a:solidFill>
              </a:rPr>
              <a:t>Plano institucional</a:t>
            </a:r>
            <a:endParaRPr lang="es-ES" sz="1700" dirty="0">
              <a:solidFill>
                <a:srgbClr val="3484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180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D21AB-C05E-05CD-198C-53F66553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63E23F1A-9AB5-2500-1ECC-9D6D6397AAC0}"/>
              </a:ext>
            </a:extLst>
          </p:cNvPr>
          <p:cNvSpPr/>
          <p:nvPr/>
        </p:nvSpPr>
        <p:spPr>
          <a:xfrm>
            <a:off x="966738" y="225333"/>
            <a:ext cx="7961333" cy="634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DA12432-C0A1-9273-9C6C-549E4996E890}"/>
              </a:ext>
            </a:extLst>
          </p:cNvPr>
          <p:cNvSpPr/>
          <p:nvPr/>
        </p:nvSpPr>
        <p:spPr>
          <a:xfrm>
            <a:off x="97509" y="-16474"/>
            <a:ext cx="71045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0"/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2800" b="1" dirty="0">
                <a:ln w="0"/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</a:t>
            </a:r>
            <a:endParaRPr lang="es-ES" sz="2800" b="1" cap="none" spc="0" dirty="0">
              <a:ln w="0"/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FAE88B5D-5CD5-A944-ED3D-1A0895D6C227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rgbClr val="0F4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27277DD-0B65-E0F9-FC14-40D08E8CA6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8991" r="19047" b="18878"/>
          <a:stretch/>
        </p:blipFill>
        <p:spPr>
          <a:xfrm>
            <a:off x="215929" y="227845"/>
            <a:ext cx="632390" cy="634681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698265FC-07CD-F29E-DDAC-4A72F2AC176E}"/>
              </a:ext>
            </a:extLst>
          </p:cNvPr>
          <p:cNvSpPr/>
          <p:nvPr/>
        </p:nvSpPr>
        <p:spPr>
          <a:xfrm>
            <a:off x="966738" y="299144"/>
            <a:ext cx="7963714" cy="4778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0"/>
                <a:solidFill>
                  <a:srgbClr val="0B37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CONCLUSIONES</a:t>
            </a:r>
            <a:endParaRPr lang="es-ES" sz="2400" b="1" cap="none" spc="0" dirty="0">
              <a:ln w="0"/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1D3162B5-27EE-BF4C-8FAE-72474689E820}"/>
              </a:ext>
            </a:extLst>
          </p:cNvPr>
          <p:cNvSpPr/>
          <p:nvPr/>
        </p:nvSpPr>
        <p:spPr>
          <a:xfrm>
            <a:off x="433206" y="2027987"/>
            <a:ext cx="8263788" cy="3385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A5ECE0-0E06-FC77-D7E9-BCD75B90B566}"/>
              </a:ext>
            </a:extLst>
          </p:cNvPr>
          <p:cNvSpPr txBox="1"/>
          <p:nvPr/>
        </p:nvSpPr>
        <p:spPr>
          <a:xfrm>
            <a:off x="1432062" y="2021953"/>
            <a:ext cx="72649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Más registros no implican más </a:t>
            </a:r>
            <a:r>
              <a:rPr lang="es-ES" sz="1600" dirty="0">
                <a:solidFill>
                  <a:srgbClr val="C00000"/>
                </a:solidFill>
              </a:rPr>
              <a:t>odio</a:t>
            </a:r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, sino mayor visibilidad</a:t>
            </a:r>
          </a:p>
        </p:txBody>
      </p:sp>
      <p:sp>
        <p:nvSpPr>
          <p:cNvPr id="5" name="Rectángulo redondeado 1">
            <a:extLst>
              <a:ext uri="{FF2B5EF4-FFF2-40B4-BE49-F238E27FC236}">
                <a16:creationId xmlns:a16="http://schemas.microsoft.com/office/drawing/2014/main" id="{DEBA74E8-3ABD-A0B4-B7DC-253F0E7A088F}"/>
              </a:ext>
            </a:extLst>
          </p:cNvPr>
          <p:cNvSpPr/>
          <p:nvPr/>
        </p:nvSpPr>
        <p:spPr>
          <a:xfrm>
            <a:off x="433203" y="3790236"/>
            <a:ext cx="8263788" cy="57874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9667148-3209-F446-8CAE-151E43FA8695}"/>
              </a:ext>
            </a:extLst>
          </p:cNvPr>
          <p:cNvSpPr txBox="1"/>
          <p:nvPr/>
        </p:nvSpPr>
        <p:spPr>
          <a:xfrm>
            <a:off x="1418253" y="3784202"/>
            <a:ext cx="7264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La educación y la concienciación social incrementan la identificación y denuncia</a:t>
            </a:r>
          </a:p>
          <a:p>
            <a:pPr algn="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de los delitos de </a:t>
            </a:r>
            <a:r>
              <a:rPr lang="es-ES" sz="1600" dirty="0">
                <a:solidFill>
                  <a:srgbClr val="C00000"/>
                </a:solidFill>
              </a:rPr>
              <a:t>odio</a:t>
            </a:r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, mejorando su registro institucional</a:t>
            </a:r>
          </a:p>
        </p:txBody>
      </p:sp>
      <p:sp>
        <p:nvSpPr>
          <p:cNvPr id="7" name="Rectángulo redondeado 1">
            <a:extLst>
              <a:ext uri="{FF2B5EF4-FFF2-40B4-BE49-F238E27FC236}">
                <a16:creationId xmlns:a16="http://schemas.microsoft.com/office/drawing/2014/main" id="{003C1B1D-5561-BF03-5B54-48CD3ECEC46B}"/>
              </a:ext>
            </a:extLst>
          </p:cNvPr>
          <p:cNvSpPr/>
          <p:nvPr/>
        </p:nvSpPr>
        <p:spPr>
          <a:xfrm>
            <a:off x="447012" y="5669953"/>
            <a:ext cx="8263788" cy="57874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FC8B090-A1D0-8AA0-6329-08514AB236DC}"/>
              </a:ext>
            </a:extLst>
          </p:cNvPr>
          <p:cNvSpPr txBox="1"/>
          <p:nvPr/>
        </p:nvSpPr>
        <p:spPr>
          <a:xfrm>
            <a:off x="1432062" y="5663919"/>
            <a:ext cx="7264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Por el contrario, bajos niveles de denuncia no garantizan una menor incidencia </a:t>
            </a:r>
          </a:p>
          <a:p>
            <a:pPr algn="r"/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de delitos de </a:t>
            </a:r>
            <a:r>
              <a:rPr lang="es-ES" sz="1600" dirty="0">
                <a:solidFill>
                  <a:srgbClr val="C00000"/>
                </a:solidFill>
              </a:rPr>
              <a:t>odio</a:t>
            </a:r>
            <a:r>
              <a:rPr lang="es-ES" sz="1600" dirty="0">
                <a:solidFill>
                  <a:schemeClr val="accent1">
                    <a:lumMod val="75000"/>
                  </a:schemeClr>
                </a:solidFill>
              </a:rPr>
              <a:t>, sino que pueden indicar fenómenos de invisibilización</a:t>
            </a:r>
          </a:p>
        </p:txBody>
      </p:sp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24CAAD1B-DA87-9356-3947-C2B15B7CD9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99" y="886436"/>
            <a:ext cx="1718889" cy="1718889"/>
          </a:xfrm>
          <a:prstGeom prst="rect">
            <a:avLst/>
          </a:prstGeom>
        </p:spPr>
      </p:pic>
      <p:pic>
        <p:nvPicPr>
          <p:cNvPr id="15" name="Imagen 14" descr="Dibujo de una persona&#10;&#10;El contenido generado por IA puede ser incorrecto.">
            <a:extLst>
              <a:ext uri="{FF2B5EF4-FFF2-40B4-BE49-F238E27FC236}">
                <a16:creationId xmlns:a16="http://schemas.microsoft.com/office/drawing/2014/main" id="{C2C95463-BF77-F5C2-D4ED-A4B2D91C96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7934"/>
            <a:ext cx="2225875" cy="2225875"/>
          </a:xfrm>
          <a:prstGeom prst="rect">
            <a:avLst/>
          </a:prstGeom>
        </p:spPr>
      </p:pic>
      <p:pic>
        <p:nvPicPr>
          <p:cNvPr id="17" name="Imagen 16" descr="Imagen que contiene animal, luz&#10;&#10;El contenido generado por IA puede ser incorrecto.">
            <a:extLst>
              <a:ext uri="{FF2B5EF4-FFF2-40B4-BE49-F238E27FC236}">
                <a16:creationId xmlns:a16="http://schemas.microsoft.com/office/drawing/2014/main" id="{2748E6AD-2BB0-B928-58F8-B721375212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38" y="4721169"/>
            <a:ext cx="1789574" cy="178957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79002DF8-AB83-29D0-4C1A-00C5D971C1FF}"/>
              </a:ext>
            </a:extLst>
          </p:cNvPr>
          <p:cNvSpPr txBox="1"/>
          <p:nvPr/>
        </p:nvSpPr>
        <p:spPr>
          <a:xfrm>
            <a:off x="7862965" y="1323567"/>
            <a:ext cx="834027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sz="56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7E37A3C-123B-B13D-8398-EE6BE7AF489A}"/>
              </a:ext>
            </a:extLst>
          </p:cNvPr>
          <p:cNvSpPr txBox="1"/>
          <p:nvPr/>
        </p:nvSpPr>
        <p:spPr>
          <a:xfrm>
            <a:off x="7847476" y="3067764"/>
            <a:ext cx="834027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sz="5600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FC04633-2BE3-3EFB-B25F-76D0B3B0F90B}"/>
              </a:ext>
            </a:extLst>
          </p:cNvPr>
          <p:cNvSpPr txBox="1"/>
          <p:nvPr/>
        </p:nvSpPr>
        <p:spPr>
          <a:xfrm>
            <a:off x="7862965" y="4948558"/>
            <a:ext cx="834027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sz="5600" b="1" dirty="0">
                <a:solidFill>
                  <a:schemeClr val="accent1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00254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52B6D-966F-B2F7-714A-AC54D08B6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2B0384A-5CBF-F623-804A-143248D810FC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Imagen 7" descr="Texto, Pizarra&#10;&#10;El contenido generado por IA puede ser incorrecto.">
            <a:extLst>
              <a:ext uri="{FF2B5EF4-FFF2-40B4-BE49-F238E27FC236}">
                <a16:creationId xmlns:a16="http://schemas.microsoft.com/office/drawing/2014/main" id="{C60270ED-21E9-FDFF-4C28-2FB78399E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1" t="5655" r="17007" b="24041"/>
          <a:stretch>
            <a:fillRect/>
          </a:stretch>
        </p:blipFill>
        <p:spPr>
          <a:xfrm>
            <a:off x="1394925" y="666618"/>
            <a:ext cx="6354147" cy="450668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6C43F2D-ECEB-A4FF-90E3-917E395EE731}"/>
              </a:ext>
            </a:extLst>
          </p:cNvPr>
          <p:cNvSpPr txBox="1"/>
          <p:nvPr/>
        </p:nvSpPr>
        <p:spPr>
          <a:xfrm>
            <a:off x="130628" y="5173304"/>
            <a:ext cx="8882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El outlier también es una persona</a:t>
            </a:r>
            <a:endParaRPr lang="es-E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7E939B-B196-8F8D-667D-6E5CF1311C91}"/>
              </a:ext>
            </a:extLst>
          </p:cNvPr>
          <p:cNvSpPr txBox="1"/>
          <p:nvPr/>
        </p:nvSpPr>
        <p:spPr>
          <a:xfrm>
            <a:off x="130628" y="5750177"/>
            <a:ext cx="888274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50" b="1" dirty="0">
                <a:solidFill>
                  <a:schemeClr val="accent1">
                    <a:lumMod val="50000"/>
                  </a:schemeClr>
                </a:solidFill>
              </a:rPr>
              <a:t>Los datos explican tendencias, no justifican el </a:t>
            </a:r>
            <a:r>
              <a:rPr lang="es-ES" sz="1850" b="1" dirty="0">
                <a:solidFill>
                  <a:srgbClr val="C00000"/>
                </a:solidFill>
              </a:rPr>
              <a:t>odio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6A10126-36DA-FD6C-E959-9553B09EB2CF}"/>
              </a:ext>
            </a:extLst>
          </p:cNvPr>
          <p:cNvCxnSpPr/>
          <p:nvPr/>
        </p:nvCxnSpPr>
        <p:spPr>
          <a:xfrm>
            <a:off x="2099387" y="5696524"/>
            <a:ext cx="4917232" cy="0"/>
          </a:xfrm>
          <a:prstGeom prst="line">
            <a:avLst/>
          </a:prstGeom>
          <a:ln w="254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28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DDD3D-69D4-264E-0F26-641FF1358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97731ED0-A736-3FF6-5E03-DCA374E240C6}"/>
              </a:ext>
            </a:extLst>
          </p:cNvPr>
          <p:cNvSpPr/>
          <p:nvPr/>
        </p:nvSpPr>
        <p:spPr>
          <a:xfrm>
            <a:off x="3373099" y="4906760"/>
            <a:ext cx="2406114" cy="2573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2D8C0EC1-8F50-BAE6-1918-C38C987C457C}"/>
              </a:ext>
            </a:extLst>
          </p:cNvPr>
          <p:cNvSpPr/>
          <p:nvPr/>
        </p:nvSpPr>
        <p:spPr>
          <a:xfrm>
            <a:off x="3764716" y="3671257"/>
            <a:ext cx="1628658" cy="2573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AF05F42B-60F8-4035-6898-A4D7083B1840}"/>
              </a:ext>
            </a:extLst>
          </p:cNvPr>
          <p:cNvSpPr/>
          <p:nvPr/>
        </p:nvSpPr>
        <p:spPr>
          <a:xfrm>
            <a:off x="4048126" y="2409132"/>
            <a:ext cx="1017036" cy="2573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D41103D-B895-5F47-AD09-524BE364EE7F}"/>
              </a:ext>
            </a:extLst>
          </p:cNvPr>
          <p:cNvSpPr/>
          <p:nvPr/>
        </p:nvSpPr>
        <p:spPr>
          <a:xfrm>
            <a:off x="57150" y="52388"/>
            <a:ext cx="9034463" cy="6738937"/>
          </a:xfrm>
          <a:prstGeom prst="rect">
            <a:avLst/>
          </a:prstGeom>
          <a:noFill/>
          <a:ln w="1270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C75FAC8-7F09-0888-E58E-15FE19FABE73}"/>
              </a:ext>
            </a:extLst>
          </p:cNvPr>
          <p:cNvSpPr/>
          <p:nvPr/>
        </p:nvSpPr>
        <p:spPr>
          <a:xfrm>
            <a:off x="966738" y="225333"/>
            <a:ext cx="7961333" cy="634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42CA9D-DFDC-8195-C451-7DE0DA392AD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7" t="18991" r="19047" b="18878"/>
          <a:stretch/>
        </p:blipFill>
        <p:spPr>
          <a:xfrm>
            <a:off x="215929" y="227845"/>
            <a:ext cx="632390" cy="63468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5316F46-A55C-FF2B-28FC-70B6C87B5A32}"/>
              </a:ext>
            </a:extLst>
          </p:cNvPr>
          <p:cNvSpPr/>
          <p:nvPr/>
        </p:nvSpPr>
        <p:spPr>
          <a:xfrm>
            <a:off x="966738" y="299144"/>
            <a:ext cx="7963714" cy="4778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dirty="0">
                <a:ln w="0"/>
                <a:solidFill>
                  <a:srgbClr val="0B37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DATASETS Y FUENTES DE INFORMACIÓN</a:t>
            </a:r>
            <a:endParaRPr lang="es-ES" sz="2400" b="1" cap="none" spc="0" dirty="0">
              <a:ln w="0"/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18FC71-37BC-A0C7-A392-043EADCD7518}"/>
              </a:ext>
            </a:extLst>
          </p:cNvPr>
          <p:cNvSpPr txBox="1"/>
          <p:nvPr/>
        </p:nvSpPr>
        <p:spPr>
          <a:xfrm>
            <a:off x="4048126" y="2368529"/>
            <a:ext cx="101703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06001.csv</a:t>
            </a:r>
            <a:endParaRPr lang="es-E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1893920-9984-98A8-76AE-0548FB073955}"/>
              </a:ext>
            </a:extLst>
          </p:cNvPr>
          <p:cNvSpPr txBox="1"/>
          <p:nvPr/>
        </p:nvSpPr>
        <p:spPr>
          <a:xfrm>
            <a:off x="218309" y="1821225"/>
            <a:ext cx="867376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u="sng" dirty="0">
                <a:solidFill>
                  <a:schemeClr val="accent1">
                    <a:lumMod val="50000"/>
                  </a:schemeClr>
                </a:solidFill>
              </a:rPr>
              <a:t>MINISTERIO DEL INTERIOR (ESPAÑA) – PORTAL ESTADÍSTICO DE CRIMINALIDAD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09EFEF5-2A51-DCD0-A9D0-6CF1FFA3B0F3}"/>
              </a:ext>
            </a:extLst>
          </p:cNvPr>
          <p:cNvSpPr txBox="1"/>
          <p:nvPr/>
        </p:nvSpPr>
        <p:spPr>
          <a:xfrm>
            <a:off x="48840" y="2092025"/>
            <a:ext cx="889207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i="1" dirty="0">
                <a:solidFill>
                  <a:schemeClr val="accent1">
                    <a:lumMod val="75000"/>
                  </a:schemeClr>
                </a:solidFill>
              </a:rPr>
              <a:t>Hechos conocidos por causa de delitos de </a:t>
            </a:r>
            <a:r>
              <a:rPr lang="es-ES" sz="1600" i="1" dirty="0">
                <a:solidFill>
                  <a:srgbClr val="C00000"/>
                </a:solidFill>
              </a:rPr>
              <a:t>odio</a:t>
            </a:r>
            <a:r>
              <a:rPr lang="es-ES" sz="16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600" i="1" dirty="0">
                <a:solidFill>
                  <a:schemeClr val="accent1">
                    <a:lumMod val="75000"/>
                  </a:schemeClr>
                </a:solidFill>
              </a:rPr>
              <a:t>desglosado por tipo hecho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5B5C1BF-48E4-DE38-7B4C-092FA85CA579}"/>
              </a:ext>
            </a:extLst>
          </p:cNvPr>
          <p:cNvSpPr txBox="1"/>
          <p:nvPr/>
        </p:nvSpPr>
        <p:spPr>
          <a:xfrm>
            <a:off x="3373099" y="4866157"/>
            <a:ext cx="241442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CY08MSP_SCH_QQQ.SAV</a:t>
            </a:r>
            <a:endParaRPr lang="es-E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CB4D736-AD22-D63F-CECD-9FE8B84EF1F2}"/>
              </a:ext>
            </a:extLst>
          </p:cNvPr>
          <p:cNvSpPr txBox="1"/>
          <p:nvPr/>
        </p:nvSpPr>
        <p:spPr>
          <a:xfrm>
            <a:off x="209999" y="4305324"/>
            <a:ext cx="871214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u="sng" dirty="0">
                <a:solidFill>
                  <a:schemeClr val="accent1">
                    <a:lumMod val="50000"/>
                  </a:schemeClr>
                </a:solidFill>
              </a:rPr>
              <a:t>OECD – PISA 2022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AAF4596-3598-F695-9B90-89DB223E017E}"/>
              </a:ext>
            </a:extLst>
          </p:cNvPr>
          <p:cNvSpPr txBox="1"/>
          <p:nvPr/>
        </p:nvSpPr>
        <p:spPr>
          <a:xfrm>
            <a:off x="125963" y="4561717"/>
            <a:ext cx="889207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i="1" dirty="0">
                <a:solidFill>
                  <a:schemeClr val="accent1">
                    <a:lumMod val="75000"/>
                  </a:schemeClr>
                </a:solidFill>
              </a:rPr>
              <a:t>School questionnaire data file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970E8DB-D904-640D-BF25-D0D70ED2195D}"/>
              </a:ext>
            </a:extLst>
          </p:cNvPr>
          <p:cNvSpPr txBox="1"/>
          <p:nvPr/>
        </p:nvSpPr>
        <p:spPr>
          <a:xfrm>
            <a:off x="3764716" y="3613741"/>
            <a:ext cx="162865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nivfor_1_04.csv</a:t>
            </a:r>
            <a:endParaRPr lang="es-E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0FD4D7-77F6-FA05-C274-0028213F968F}"/>
              </a:ext>
            </a:extLst>
          </p:cNvPr>
          <p:cNvSpPr txBox="1"/>
          <p:nvPr/>
        </p:nvSpPr>
        <p:spPr>
          <a:xfrm>
            <a:off x="218309" y="3061730"/>
            <a:ext cx="870383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u="sng" dirty="0">
                <a:solidFill>
                  <a:schemeClr val="accent1">
                    <a:lumMod val="50000"/>
                  </a:schemeClr>
                </a:solidFill>
              </a:rPr>
              <a:t>MINISTERIO PARA LA TRANSFORMACIÓN DIGITAL Y DE LA FUNCIÓN PÚBLICA (ESPAÑA)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7D3C2C5-DFA1-27F5-9724-0AECC4755D42}"/>
              </a:ext>
            </a:extLst>
          </p:cNvPr>
          <p:cNvSpPr txBox="1"/>
          <p:nvPr/>
        </p:nvSpPr>
        <p:spPr>
          <a:xfrm>
            <a:off x="133007" y="3347068"/>
            <a:ext cx="889207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i="1" dirty="0">
                <a:solidFill>
                  <a:schemeClr val="accent1">
                    <a:lumMod val="75000"/>
                  </a:schemeClr>
                </a:solidFill>
              </a:rPr>
              <a:t>Población de 25 a 64 años en la UE por país, sexo, nivel de formación, grado de urbanización y año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AC2018D-7FFA-33EC-AEED-EA76155DF64C}"/>
              </a:ext>
            </a:extLst>
          </p:cNvPr>
          <p:cNvSpPr/>
          <p:nvPr/>
        </p:nvSpPr>
        <p:spPr>
          <a:xfrm>
            <a:off x="251927" y="6059744"/>
            <a:ext cx="8640146" cy="5496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0E8853D-F013-9EC0-1B5C-DD9DF41AB9C3}"/>
              </a:ext>
            </a:extLst>
          </p:cNvPr>
          <p:cNvSpPr txBox="1"/>
          <p:nvPr/>
        </p:nvSpPr>
        <p:spPr>
          <a:xfrm>
            <a:off x="251927" y="6038839"/>
            <a:ext cx="864014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i="1" dirty="0">
                <a:solidFill>
                  <a:schemeClr val="accent1">
                    <a:lumMod val="50000"/>
                  </a:schemeClr>
                </a:solidFill>
              </a:rPr>
              <a:t>Los datasets han sido utilizados exclusivamente con fines académicos y analíticos.</a:t>
            </a:r>
          </a:p>
          <a:p>
            <a:pPr algn="ctr"/>
            <a:r>
              <a:rPr lang="es-ES" sz="1600" i="1" dirty="0">
                <a:solidFill>
                  <a:schemeClr val="accent1">
                    <a:lumMod val="50000"/>
                  </a:schemeClr>
                </a:solidFill>
              </a:rPr>
              <a:t>Los nombres de archivo incluyen enlaces directos a las fuentes originales.</a:t>
            </a:r>
          </a:p>
        </p:txBody>
      </p:sp>
    </p:spTree>
    <p:extLst>
      <p:ext uri="{BB962C8B-B14F-4D97-AF65-F5344CB8AC3E}">
        <p14:creationId xmlns:p14="http://schemas.microsoft.com/office/powerpoint/2010/main" val="20095910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11273</TotalTime>
  <Words>585</Words>
  <Application>Microsoft Office PowerPoint</Application>
  <PresentationFormat>Presentación en pantalla (4:3)</PresentationFormat>
  <Paragraphs>66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Cristóbal</dc:creator>
  <cp:lastModifiedBy>FRANCISCO JAVIER CRISTOBAL FERNANDEZ</cp:lastModifiedBy>
  <cp:revision>561</cp:revision>
  <dcterms:created xsi:type="dcterms:W3CDTF">2017-05-28T02:24:09Z</dcterms:created>
  <dcterms:modified xsi:type="dcterms:W3CDTF">2026-02-07T02:51:59Z</dcterms:modified>
</cp:coreProperties>
</file>